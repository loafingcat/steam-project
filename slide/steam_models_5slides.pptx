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788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스팀은 세계 최대 PC 게임 플랫폼, 9만 개 게임. 좋은 게임 찾기 어렵다: 추천 편향, 분위기 검색 불가, 태그 들쭉날쭉. Kaggle 2025년 3월 데이터, 47컬럼. 정형+텍스트가 같이 있어 ML/DL 비교에 최적.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9만→4.6만 정제. 180일 미만 제거(라벨 신뢰성), 리뷰 10개 미만 제거(긍정률 신뢰), Leakage 17개 차단(답지 보기 방지), 이상탐지로 리뷰폭격 제외. Leakage 사고: Wilson 컬럼 안 지워서 0.97 폭등→제거 후 0.28. 최종 83피처.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숨은 명작 탐지: 출시 전 정보만으로 평가 좋은데 안 알려진 게임 찾기. 양성 9.8% 극단 불균형. XGBoost가 딥러닝 이김. PR-AUC 0.279는 무작위 2.85배. MLP 기본 F1 0.02→임계값 조정 0.29.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흥행 예측: 팀원 모델. 다운샘플링 1:1. RF(Recall 0.28→0.78)→LightGBM→MLP. 균형 데이터에선 MLP가 Recall 0.82 F1 0.61로 최고. 검증셋 분리로 leakage 차단. 숨은명작과 달리 DL이 이김.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자연어 검색: 잔잔한 힐링 게임 같은 입력. ML(단어매칭)은 영어 키워드 강함(0.64)이나 한국어 불가. DL(의미 임베딩)은 한국어·자연어 가능. 하이브리드 자동 선택. 결론: 데이터 성격이 모델을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42062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배경 · 데이터셋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36192" y="67665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스팀 데이터셋 선정 이유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문제의식  </a:t>
            </a:r>
            <a:r>
              <a:rPr lang="en-US" sz="1450" dirty="0">
                <a:solidFill>
                  <a:srgbClr val="3A4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게임이 9만 개나 되는데, 정작 좋은 게임을 찾기는 어렵다. 이걸 데이터로 풀어보자는 데서 시작했습니다.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84632" y="2697480"/>
            <a:ext cx="5650992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056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스팀의 불편한 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0560" y="3291840"/>
            <a:ext cx="529401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추천이 유명 게임 </a:t>
            </a:r>
            <a:r>
              <a:rPr lang="en-US" sz="13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위주</a:t>
            </a: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잘 팔리는 게임만 계속 노출돼서, 묻힌 좋은 게임은 </a:t>
            </a:r>
            <a:r>
              <a:rPr lang="en-US" sz="1250" dirty="0" err="1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발견되기</a:t>
            </a: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어려움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검색이 태그 </a:t>
            </a:r>
            <a:r>
              <a:rPr lang="en-US" sz="13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조합뿐</a:t>
            </a: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'잔잔한 힐링 게임' 같은 분위기로는 검색이 안 되고, </a:t>
            </a:r>
            <a:r>
              <a:rPr lang="en-US" sz="1250" dirty="0" err="1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태그를</a:t>
            </a: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골라야 한다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 품질이 </a:t>
            </a:r>
            <a:r>
              <a:rPr lang="en-US" sz="13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들쭉날쭉</a:t>
            </a: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유저가 자유롭게 다는 방식이라 일관성이 부족하다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697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2862072"/>
            <a:ext cx="26060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89,618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373368" y="3739896"/>
            <a:ext cx="238658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게임 수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· 2025년 3월 기준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98280" y="2697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98280" y="2862072"/>
            <a:ext cx="26060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208008" y="3739896"/>
            <a:ext cx="238658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컬럼 수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 + 텍스트 데이터 혼합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46177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2ECE0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 이 데이터를 고른 결정적 이유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5102352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가격·장르 같은 </a:t>
            </a:r>
            <a:r>
              <a:rPr lang="en-US" sz="1250" b="1" dirty="0">
                <a:solidFill>
                  <a:srgbClr val="8A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 데이터</a:t>
            </a:r>
            <a:r>
              <a:rPr lang="en-US" sz="1250" dirty="0">
                <a:solidFill>
                  <a:srgbClr val="44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 게임 설명문 같은 </a:t>
            </a:r>
            <a:r>
              <a:rPr lang="en-US" sz="1250" b="1" dirty="0">
                <a:solidFill>
                  <a:srgbClr val="8A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데이터</a:t>
            </a:r>
            <a:r>
              <a:rPr lang="en-US" sz="1250" dirty="0">
                <a:solidFill>
                  <a:srgbClr val="44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한 데이터셋에 같이 있어서, 머신러닝과 딥러닝을 모두 적용하고 비교하기에 최적이었다.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24303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822960" cy="822960"/>
          </a:xfrm>
          <a:prstGeom prst="ellipse">
            <a:avLst/>
          </a:prstGeom>
          <a:solidFill>
            <a:srgbClr val="4FA88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42062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A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정제 · 전처리 파이프라인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36192" y="67665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2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전처리</a:t>
            </a:r>
            <a:r>
              <a:rPr lang="ko-KR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기준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 </a:t>
            </a:r>
            <a:r>
              <a:rPr lang="en-US" sz="1450" dirty="0">
                <a:solidFill>
                  <a:srgbClr val="334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9만 개를 그대로 쓸 수 없</a:t>
            </a:r>
            <a:r>
              <a:rPr lang="ko-KR" altLang="en-US" sz="1450" dirty="0">
                <a:solidFill>
                  <a:srgbClr val="334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기에</a:t>
            </a:r>
            <a:r>
              <a:rPr lang="en-US" sz="1450" dirty="0">
                <a:solidFill>
                  <a:srgbClr val="334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모델보다 데이터 품질 확보가 먼저 — 89,618건을 46,572건으로 정제했습니다.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정제 과정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4983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출시 180일 미만 제거 </a:t>
            </a:r>
            <a:r>
              <a:rPr lang="en-US" sz="1250" b="1" dirty="0">
                <a:solidFill>
                  <a:srgbClr val="4FA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(-9,943)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갓 나온 게임은 리뷰·소유자가 안 쌓여 흥행 판단 불가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10개 미만 제거 </a:t>
            </a:r>
            <a:r>
              <a:rPr lang="en-US" sz="1250" b="1" dirty="0">
                <a:solidFill>
                  <a:srgbClr val="4FA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(-33,103)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3개짜리 100% 긍정률은 믿을 수 없다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컬럼 17개 차단 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출시 후에만 아는 정보(리뷰·소유자 등)는 학습에서 삭제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탐지로 품질 보정 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폭격·데이터 오류 게임을 라벨에서 제외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697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2862072"/>
            <a:ext cx="26060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4FA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46,572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373368" y="3739896"/>
            <a:ext cx="238658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학습 데이터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89,618에서 정제 (52%)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98280" y="2697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98280" y="2862072"/>
            <a:ext cx="26060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208008" y="3739896"/>
            <a:ext cx="238658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피처 수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숨은명작 9.8% · 흥행 15.6%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46177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AF3E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 실제 겪은 Leakage 사고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5102352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4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정답을 만든 컬럼을 안 지우고 학습했더니 성능이 </a:t>
            </a:r>
            <a:r>
              <a:rPr lang="en-US" sz="1250" b="1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</a:t>
            </a:r>
            <a:r>
              <a:rPr lang="en-US" sz="1250" dirty="0">
                <a:solidFill>
                  <a:srgbClr val="3A4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폭등. "답지 보고 시험 친" 셈. 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50" dirty="0">
              <a:solidFill>
                <a:srgbClr val="3A463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 err="1">
                <a:solidFill>
                  <a:srgbClr val="3A4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제거하니</a:t>
            </a:r>
            <a:r>
              <a:rPr lang="en-US" sz="1250" dirty="0">
                <a:solidFill>
                  <a:srgbClr val="3A4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>
                <a:solidFill>
                  <a:srgbClr val="1A6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</a:t>
            </a:r>
            <a:r>
              <a:rPr lang="en-US" sz="1250" dirty="0">
                <a:solidFill>
                  <a:srgbClr val="3A4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정상화 → Leakage의 위험을 직접 체감.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822960" cy="822960"/>
          </a:xfrm>
          <a:prstGeom prst="ellipse">
            <a:avLst/>
          </a:prstGeom>
          <a:solidFill>
            <a:srgbClr val="4FB0E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42062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B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 데이터 · 분류 모델 (ML 우세)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36192" y="67665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숨은 명작 탐지 — 묻혀있는 좋은 게임 찾기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이게 뭐냐  </a:t>
            </a:r>
            <a:r>
              <a:rPr lang="en-US" sz="1450" dirty="0">
                <a:solidFill>
                  <a:srgbClr val="334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게임의 가격·장르·플랫폼 등 83개 정보만 보고, '평가는 좋은데 아직 안 알려진 게임'인지 0~100% 점수로 매깁니다.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했나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310128"/>
            <a:ext cx="4983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모델 비교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전통 ML 5종(XGBoost 등) vs 딥러닝 2종(MLP)을 같은 데이터로 경쟁시켜 가장 좋은 모델을 자동 선정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불균형 문제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숨은 명작은 전체의 9.8%뿐 → 그냥 두면 모델이 '전부 아님'이라 찍음. 가중치·오버샘플링으로 해결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신뢰도 보정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30개 만점(100%)보다 1000개 중 95%가 더 믿을 만함 → Wilson 점수로 표본 크기 반영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697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2862072"/>
            <a:ext cx="26060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4FB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0.279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373368" y="3739896"/>
            <a:ext cx="238658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 (정밀도 종합점수)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무작위 0.098의 약 2.85배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98280" y="2697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98280" y="2862072"/>
            <a:ext cx="26060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승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208008" y="3739896"/>
            <a:ext cx="238658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&gt; 딥러닝(MLP)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정형+소수 데이터엔 ML이 유리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46177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AF3FA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 봐야 할 기준점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50749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PR-AUC: </a:t>
            </a:r>
            <a:r>
              <a:rPr lang="en-US" sz="1180" dirty="0">
                <a:solidFill>
                  <a:srgbClr val="44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 랜덤 / 0.20 쓸만함 / 0.30 꽤 좋음. 양성이 9.8%뿐인 어려운 문제라 이 숫자도 의미있는 성능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492240" y="57150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b="1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발견: </a:t>
            </a:r>
            <a:r>
              <a:rPr lang="en-US" sz="1180" dirty="0">
                <a:solidFill>
                  <a:srgbClr val="44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딥러닝은 기본 설정에서 명작을 거의 못 찾음(F1 0.02) → 판정 기준선 조정으로 0.29 회복</a:t>
            </a:r>
            <a:endParaRPr lang="en-US" sz="11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2A1A3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822960" cy="822960"/>
          </a:xfrm>
          <a:prstGeom prst="ellipse">
            <a:avLst/>
          </a:prstGeom>
          <a:solidFill>
            <a:srgbClr val="B57BE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42062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57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 데이터 · 분류 모델 (DL 우세)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36192" y="67665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흥행 예측 — 이 게임이 잘 팔릴까?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이게 뭐냐  </a:t>
            </a:r>
            <a:r>
              <a:rPr lang="en-US" sz="1450" dirty="0">
                <a:solidFill>
                  <a:srgbClr val="3A2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정보를 보고 '흥행작이 될지'를 예측합니다. 데이터 균형을 1:1로 맞춰 공정하게 학습시킨 게 핵심.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발전시켰나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310128"/>
            <a:ext cx="4983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랜덤 포레스트 (시작점)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4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불균형 탓에 흥행작을 28%밖에 못 잡음 → 데이터를 1:1로 맞추니 78%로 급상승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LightGBM (고도화)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4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정교한 부스팅 알고리즘으로 교체 → 균형점수(F1) 0.58 확보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딥러닝 MLP (최종 선정)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4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과적합 발생 → 검증셋 분리 + 규제 강화로 해결 → 가장 우수한 탐지 성능으로 최종 채택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697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2862072"/>
            <a:ext cx="26060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B57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373368" y="3739896"/>
            <a:ext cx="238658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(흥행작 탐지율)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MLP · F1 0.61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98280" y="2697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98280" y="2862072"/>
            <a:ext cx="26060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 승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208008" y="3739896"/>
            <a:ext cx="238658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&gt; LightGBM &gt; RF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균형 데이터에선 딥러닝도 경쟁력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46177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0E9F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 봐야 할 기준점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50749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Recall(재현율): </a:t>
            </a:r>
            <a:r>
              <a:rPr lang="en-US" sz="1180" dirty="0">
                <a:solidFill>
                  <a:srgbClr val="4A3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흥행작 중 모델이 잡아낸 비율. 다운샘플링으로 28%→78%로 개선된 게 핵심 성과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492240" y="57150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b="1" dirty="0">
                <a:solidFill>
                  <a:srgbClr val="8A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발견: </a:t>
            </a:r>
            <a:r>
              <a:rPr lang="en-US" sz="1180" dirty="0">
                <a:solidFill>
                  <a:srgbClr val="4A3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테스트셋으로 모델 고르던 걸 검증셋 분리로 수정 → 또 다른 Leakage를 차단</a:t>
            </a:r>
            <a:endParaRPr lang="en-US" sz="11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0E2E2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822960" cy="822960"/>
          </a:xfrm>
          <a:prstGeom prst="ellipse">
            <a:avLst/>
          </a:prstGeom>
          <a:solidFill>
            <a:srgbClr val="27C2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42062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7C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데이터 · 의미 검색 (DL 우세)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36192" y="67665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게임 검색 — 분위기로 찾기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이게 뭐냐  </a:t>
            </a:r>
            <a:r>
              <a:rPr lang="en-US" sz="1450" dirty="0">
                <a:solidFill>
                  <a:srgbClr val="2A3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"잔잔한 힐링 게임"처럼 말로 입력하면 어울리는 게임을 찾아줍니다. 단어매칭(ML)과 의미매칭(DL)을 비교했습니다.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방식의 차이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310128"/>
            <a:ext cx="4983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ML — 단어 매칭 (TF-IDF)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설명문에 그 '단어'가 있어야 찾음. 빠르지만 '힐링'='relaxing'을 모르고, 한국어 검색 불가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DL — 의미 매칭 (임베딩)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단어가 달라도 '뜻'이 비슷하면 찾음. 한국어로 영어 게임도 검색 가능 (다국어 모델)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534924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E3F6F0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53492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하이브리드: </a:t>
            </a:r>
            <a:r>
              <a:rPr lang="en-US" sz="1200" dirty="0">
                <a:solidFill>
                  <a:srgbClr val="2A4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영어는 ML, 한국어·문장은 DL로 자동 선택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697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2862072"/>
            <a:ext cx="26060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7C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373368" y="3739896"/>
            <a:ext cx="238658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정확도(P@20)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 키워드 검색 기준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98280" y="2606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98280" y="2770632"/>
            <a:ext cx="2606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 승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208008" y="3703320"/>
            <a:ext cx="2386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한국어·자연어는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DL만 가능 (ML은 0%)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6177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3F6F0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 핵심 결론 (전체 프로젝트)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5102352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"무엇이 더 좋은가"가 아니라 </a:t>
            </a:r>
            <a:r>
              <a:rPr lang="en-US" sz="1250" b="1" dirty="0">
                <a:solidFill>
                  <a:srgbClr val="1A7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"데이터 성격이 모델을 결정한다"</a:t>
            </a:r>
            <a:r>
              <a:rPr lang="en-US" sz="1250" dirty="0">
                <a:solidFill>
                  <a:srgbClr val="334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정형+불균형은 ML, 균형 정형은 DL, 텍스트 의미는 DL.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1053</Words>
  <Application>Microsoft Office PowerPoint</Application>
  <PresentationFormat>와이드스크린</PresentationFormat>
  <Paragraphs>123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Steam ML vs DL — 발표 슬라이드</dc:title>
  <dc:subject>PptxGenJS Presentation</dc:subject>
  <dc:creator>Steam Project Team</dc:creator>
  <cp:lastModifiedBy>금정산2-PC12</cp:lastModifiedBy>
  <cp:revision>2</cp:revision>
  <dcterms:created xsi:type="dcterms:W3CDTF">2026-06-16T05:13:45Z</dcterms:created>
  <dcterms:modified xsi:type="dcterms:W3CDTF">2026-06-16T05:19:11Z</dcterms:modified>
</cp:coreProperties>
</file>